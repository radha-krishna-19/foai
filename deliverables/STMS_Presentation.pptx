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Nodes expanded (lower = faster)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Nodes expanded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35.5</c:v>
                </c:pt>
                <c:pt idx="1">
                  <c:v>36</c:v>
                </c:pt>
                <c:pt idx="2">
                  <c:v>7.7</c:v>
                </c:pt>
                <c:pt idx="3">
                  <c:v>14.1</c:v>
                </c:pt>
                <c:pt idx="4">
                  <c:v>11.3</c:v>
                </c:pt>
                <c:pt idx="5">
                  <c:v>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Routes that are optimal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Optimal routes %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BFS</c:v>
                  </c:pt>
                  <c:pt idx="1">
                    <c:v>UCS</c:v>
                  </c:pt>
                  <c:pt idx="2">
                    <c:v>Greedy</c:v>
                  </c:pt>
                  <c:pt idx="3">
                    <c:v>A* Eucl.</c:v>
                  </c:pt>
                  <c:pt idx="4">
                    <c:v>A* Manh.</c:v>
                  </c:pt>
                  <c:pt idx="5">
                    <c:v>W-A* w=2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56.5</c:v>
                </c:pt>
                <c:pt idx="1">
                  <c:v>100</c:v>
                </c:pt>
                <c:pt idx="2">
                  <c:v>51.5</c:v>
                </c:pt>
                <c:pt idx="3">
                  <c:v>100</c:v>
                </c:pt>
                <c:pt idx="4">
                  <c:v>100</c:v>
                </c:pt>
                <c:pt idx="5">
                  <c:v>57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S1 average wait per vehicle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wait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Fixed-Time</c:v>
                  </c:pt>
                  <c:pt idx="1">
                    <c:v>Max-Pressure</c:v>
                  </c:pt>
                  <c:pt idx="2">
                    <c:v>MP + green-wave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15.45</c:v>
                </c:pt>
                <c:pt idx="1">
                  <c:v>8.11</c:v>
                </c:pt>
                <c:pt idx="2">
                  <c:v>9.26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S2 wait by approach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N-S wait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21.88</c:v>
                </c:pt>
                <c:pt idx="1">
                  <c:v>2.93</c:v>
                </c:pt>
                <c:pt idx="2">
                  <c:v>5.94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E-W wait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Fixed</c:v>
                  </c:pt>
                  <c:pt idx="1">
                    <c:v>MP no anti-starv.</c:v>
                  </c:pt>
                  <c:pt idx="2">
                    <c:v>MP + anti-starv.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12.35</c:v>
                </c:pt>
                <c:pt idx="1">
                  <c:v>44.27</c:v>
                </c:pt>
                <c:pt idx="2">
                  <c:v>12.79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S3 ambulance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preemption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54</c:v>
                </c:pt>
                <c:pt idx="1">
                  <c:v>12.2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Preemption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Travel time</c:v>
                  </c:pt>
                  <c:pt idx="1">
                    <c:v>Wait at red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Road slowed to 2 m/s: travel time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Travel (s)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Static route</c:v>
                  </c:pt>
                  <c:pt idx="1">
                    <c:v>Local sensing</c:v>
                  </c:pt>
                  <c:pt idx="2">
                    <c:v>TMC broadcast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144.87</c:v>
                </c:pt>
                <c:pt idx="1">
                  <c:v>144.87</c:v>
                </c:pt>
                <c:pt idx="2">
                  <c:v>95.55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Hill climbing: avg wait at each step (s)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restart 0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9.083</c:v>
                </c:pt>
                <c:pt idx="1">
                  <c:v>8.533</c:v>
                </c:pt>
                <c:pt idx="2">
                  <c:v>8.35</c:v>
                </c:pt>
                <c:pt idx="3">
                  <c:v>7.833</c:v>
                </c:pt>
                <c:pt idx="4">
                  <c:v>7.4</c:v>
                </c:pt>
                <c:pt idx="5">
                  <c:v>7.193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restart 1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9.67</c:v>
                </c:pt>
                <c:pt idx="1">
                  <c:v>8.757</c:v>
                </c:pt>
                <c:pt idx="2">
                  <c:v>8.373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6.5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530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E2530"/>
                </a:solidFill>
                <a:latin typeface="Arial"/>
              </a:rPr>
              <a:t>Average wait (s)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Fixed-Time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14.11</c:v>
                </c:pt>
                <c:pt idx="1">
                  <c:v>20.71</c:v>
                </c:pt>
                <c:pt idx="2">
                  <c:v>25.72</c:v>
                </c:pt>
                <c:pt idx="3">
                  <c:v>35.74</c:v>
                </c:pt>
                <c:pt idx="4">
                  <c:v>44.64</c:v>
                </c:pt>
                <c:pt idx="5">
                  <c:v>56.79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Max-Pressure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5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2x2</c:v>
                  </c:pt>
                  <c:pt idx="1">
                    <c:v>3x3</c:v>
                  </c:pt>
                  <c:pt idx="2">
                    <c:v>4x4</c:v>
                  </c:pt>
                  <c:pt idx="3">
                    <c:v>5x5</c:v>
                  </c:pt>
                  <c:pt idx="4">
                    <c:v>6x6</c:v>
                  </c:pt>
                  <c:pt idx="5">
                    <c:v>8x8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7.7</c:v>
                </c:pt>
                <c:pt idx="1">
                  <c:v>11.49</c:v>
                </c:pt>
                <c:pt idx="2">
                  <c:v>14.81</c:v>
                </c:pt>
                <c:pt idx="3">
                  <c:v>19.88</c:v>
                </c:pt>
                <c:pt idx="4">
                  <c:v>24.85</c:v>
                </c:pt>
                <c:pt idx="5">
                  <c:v>30.3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1E25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27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Introduce the team and say that each member owns one agent or algorithm end to end: code, scenario,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State the three problems and the headline numbers. Every number comes from results/results.json and can be regenerated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Walk the table. Each row maps to a module under src/ and to named tests in tests/.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Point out that no agent calls another agent's code. Signals are set by intersections only; the coordinator informs and tunes but never switches a 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presents their own agent's row: M2 intersection, M3 vehicle, M4 ambulance, M5 coordinator.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for the environment properties, M5 for the architecture table. Key line: partial observability is modelled explicitly, since vehicles plan on their own beliefs.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Emphasise that the heuristic stays admissible under congestion, and that vehicles search on beliefs, which is why broadcasts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Run the command live if time permits. Point at the f column and explain why it is monotone.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M3. A* is optimal in 100% of trips with 14.1 expansions against 36 for UCS. Greedy is cheap but optimal only 51.5% of the time. Manhattan is tighter but only valid because roads are axis-aligned.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Without the starvation term, pure pressure would keep NS green (6 &gt; 5). The term is what serves the waiting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M2. Honest note: the green-wave hand-off slightly hurts on random grid demand (8.1 to 9.3 s), so it is optional; it is kept because it demonstrates peer-to-peer INFORM messages (IT-07).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These are the real messages of the demo run: python run_simulation.py --protocol prints the same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M4. S3 uses the same Max-Pressure controller in both runs. S5 compares a conventional city (fixed-time lights, no alerts, no preemption) with ours on identical traffic and the identical accident.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Restart 1 stops at a worse local optimum (8.37 s), which is why restarts are needed. The random restart 2 started at the best point (6.85 s). Tuned values were validated on seeds never used in the 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We deliberately wrote the broker and search ourselves so every step can be shown and 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M1. Each junction decides in O(1) from local data, so adding junctions adds no work to existing ones. A* runs inside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M5. Mention that IT-05 failed during this cycle and exposed a real bug: vehicles waiting to depart ignored alerts. The fix is pre-trip listening.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Presenter: M1 drives the laptop; each owner narrates their part. Backup: results/figures/demo_2_after.png if the laptop display fails.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Saying the limitations first makes the positive results more credible.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 team. For Q&amp;A, each owner answers questions on their module; the viva bank is in the report's Appendix 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Traffic Management System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298448"/>
            <a:ext cx="7406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multi-agent AI system: Max-Pressure signals, A* routing, ambulance preemption, accident re-routing, hill-climbing tuning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2331720"/>
            <a:ext cx="310896" cy="310896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31720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P.M. Radha Krishna (CB.SC.U4CSE23134)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Environment &amp; Simulation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0" y="2734056"/>
            <a:ext cx="310896" cy="3108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2734056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2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Intersection Agent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97280" y="3136392"/>
            <a:ext cx="310896" cy="31089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554480" y="313639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3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Vehicle Agent &amp; Search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97280" y="3538728"/>
            <a:ext cx="310896" cy="31089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35387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3538728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4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Priority Vehicles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97280" y="3941064"/>
            <a:ext cx="310896" cy="310896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3941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554480" y="3941064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5</a:t>
            </a:r>
            <a:pPr indent="0" marL="0">
              <a:buNone/>
            </a:pPr>
            <a:r>
              <a:rPr lang="en-US" sz="13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Coordinator &amp; Testing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52628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Case Study  |  Review 1 &amp; Review 2  |  Amrita Vishwa Vidyapeetham, Coimbatore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fixed-time signals fail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problems, each solved by a different agent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timing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green goes to an empty side street and to a rush-hour arterial.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Intersection agents (Max-Pressure)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071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delay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1071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Ambulances lose time at every red light on their way.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Ambulance preemption protocol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280160"/>
            <a:ext cx="2651760" cy="2011680"/>
          </a:xfrm>
          <a:prstGeom prst="roundRect">
            <a:avLst>
              <a:gd name="adj" fmla="val 363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99632" y="1389888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A3A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lag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199632" y="1755648"/>
            <a:ext cx="2322576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find out about an accident only when they reach the queue.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Solved by: Coordinator broadcasts + A* re-planning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 vs fixed-time (S1)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24612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324612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travel time, 0 s at red (S3)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356616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s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42519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145 s travel past an accident (S4)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agents, five owners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owns an agent, its algorithm, its scenario and its tests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417320"/>
            <a:ext cx="384048" cy="384048"/>
          </a:xfrm>
          <a:prstGeom prst="ellipse">
            <a:avLst/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32588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simulator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132588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BPR travel time, saturation flow, N x N grids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20840" y="132588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 scalability, visual demo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0253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093976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002536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Intersection agent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291840" y="200253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Max-Pressure + anti-starvation, green-wave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002536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S1, S2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67919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4360" y="2770632"/>
            <a:ext cx="384048" cy="38404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9436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267919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agent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67919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(vs BFS, UCS, Greedy, W-A*), beliefs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20840" y="2679192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S4, S7, A* trace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35584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3447288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3355848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Ambulance agent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3291840" y="335584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(green corridor)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720840" y="3355848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S3, S5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03250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4123944"/>
            <a:ext cx="384048" cy="384048"/>
          </a:xfrm>
          <a:prstGeom prst="ellipse">
            <a:avLst/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9436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4032504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(TMC)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291840" y="403250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climbing, incident broadcast, protocol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720840" y="4032504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S6, 43-test suite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interact only through FIPA-ACL messages via the broker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pic>
        <p:nvPicPr>
          <p:cNvPr id="7" name="Image 0" descr="/home/claude/proj/results/figures/architec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1115568"/>
            <a:ext cx="749808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PEAS formulation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what each agent optimises, senses and controls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874520"/>
                <a:gridCol w="1783080"/>
                <a:gridCol w="18288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Actuators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delay, max throughput, no starvation, 3 s yellow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4-leg junction, 8 roads, random arrivals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Phase NS / EW / yellow;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Queue counts on 8 roads; inbox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travel time, min stops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 graph, signals, cars ahead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Accelerate / stop / cross; choose route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Speed, signal, gap; TMC alerts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response time, 0 s at 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Roads with background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 60 km/h; PREEMPT, CANCEL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look-ahead ETA; AGREE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delay; delay on unseen traffic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network (aggregate)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BROADCAST alerts; PARAMETER_UPDATE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road densities; incidents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&amp; agent analysis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task-environment properties and agent architectures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Partially observable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sees only local roads + messages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06040" y="123444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15768" y="123444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junctions, competing vehicles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arrivals, random incidents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06040" y="205740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15768" y="205740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green now changes every later queue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queues grow while agents think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06040" y="288036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715768" y="288036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positions and speeds; time in 1 s ticks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703320"/>
            <a:ext cx="20116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6928" y="3703320"/>
            <a:ext cx="18288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physics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roads and BPR known; demand not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234440"/>
          <a:ext cx="37490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56032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Architecture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Utility-based, with internal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Goal-based, model-based (search)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Goal-based + communication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Coordinator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agent (critic = simulation)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search: A* over each vehicle's beliefs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algorithmic modelling &amp; search strategy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3192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State-space formulation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027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State: junction the vehicle is at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drive any road it believes is open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test: s = destination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cost: BPR travel time t0 (1 + 0.15 (V/C)^4)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Heuristic: h(n) = straight-line distance / v_max</a:t>
            </a:r>
            <a:endParaRPr lang="en-US" sz="145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Evaluation: f(n) = g(n) + h(n)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0" y="12344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736592" y="134416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Admissible: h(n) &lt;= h*(n)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736592" y="1709928"/>
            <a:ext cx="378561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route is shorter than the straight line, and no road is faster than v_max, so h never over-estimates. Congestion only raises true cost. (UT-01)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0" y="3017520"/>
            <a:ext cx="4114800" cy="1691640"/>
          </a:xfrm>
          <a:prstGeom prst="roundRect">
            <a:avLst>
              <a:gd name="adj" fmla="val 432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36592" y="312724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Consistent: h(u) &lt;= c(u,v) + h(v)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736592" y="3493008"/>
            <a:ext cx="3785616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Triangle inequality plus c(u,v) &gt;= length / v_max. So f never decreases, the first goal popped is optimal, and nothing is re-expanded. (UT-02)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step by step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3x3 congested grid, INT_10-&gt;INT_11 closed, trip W0 -&gt; E2 (python run_simulation.py --astar-trace)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5720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97280"/>
                <a:gridCol w="914400"/>
                <a:gridCol w="91440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h(n)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 = g + 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51.95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234440"/>
            <a:ext cx="3383280" cy="3429000"/>
          </a:xfrm>
          <a:prstGeom prst="roundRect">
            <a:avLst>
              <a:gd name="adj" fmla="val 2162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68112" y="1344168"/>
            <a:ext cx="3054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notice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68112" y="1709928"/>
            <a:ext cx="3054096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never decreases: 64.4 -&gt; 86.5 (consistency)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High-h nodes (N0, W1) are never expanded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A*: 9 expansions  |  UCS: 20 expansions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optimal cost: 86.46 s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Route: W0 &gt; INT_00 &gt; INT_01 &gt; INT_02 &gt; INT_12 &gt; INT_22 &gt; E2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A*? Five strategies compared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S7: 6x6 (60 nodes, 168 roads), 200 random trips, one closed road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 &amp; Search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Max-Pressure signal control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1: decentralised; each junction uses only its own 8 queues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02336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941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Algorithm (every second)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9417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pressure: w = Q_in - Q_out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pressure: P = sum of max(0, w)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Anti-starvation: S = P + 0.5 x red-time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5 s minimum green: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red side empty -&gt; keep green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green &gt;= 30 s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S(red) &gt; S(green) + 1 -&gt; switch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switch goes through a 3 s YELLOW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685800"/>
                <a:gridCol w="731520"/>
                <a:gridCol w="8686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INT_00 movement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Q_out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max(0, w)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N0 -&gt; south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-&gt; N0 (north)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W0 -&gt; east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-&gt; W0 (west)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663440" y="297180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 green for 12 s: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S(NS) = 6 + 0.5 x 0 =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S(EW) = 5 + 0.5 x 12 = 11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&gt; 6 + 1  -&gt;  YELLOW, then EW green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signals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2x2 grid, 10 seeds  |  S2 rush hour, 87% of traffic N-S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Intersection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-47.5% wait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vs fixed-time.   </a:t>
            </a:r>
            <a:pPr indent="0" marL="0">
              <a:buNone/>
            </a:pPr>
            <a:r>
              <a:rPr lang="en-US" sz="1300" b="1" dirty="0">
                <a:solidFill>
                  <a:srgbClr val="D73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of 108</a:t>
            </a:r>
            <a:pPr indent="0" marL="0">
              <a:buNone/>
            </a:pPr>
            <a:r>
              <a:rPr lang="en-US" sz="13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E-W cars never served without anti-starvation; 0 with 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interaction, as it happened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messages recorded in the demo run (python run_simulation.py --protocol)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pic>
        <p:nvPicPr>
          <p:cNvPr id="7" name="Image 0" descr="/home/claude/proj/results/figures/sequ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6355080" cy="3611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12280" y="118872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976872" y="1298448"/>
            <a:ext cx="1591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B68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protocols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976872" y="1664208"/>
            <a:ext cx="1591056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Accident: one BROADCAST from the traffic centre; each car checks its route and re-runs A*.</a:t>
            </a:r>
            <a:endParaRPr lang="en-US" sz="11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Ambulance: PREEMPT_OVERRIDE -&gt; AGREE -&gt; CANCEL. Absolute, but always via yellow.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Results: ambulance and conventional vs ours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same controller, preemption off vs on  |  S5 whole city: conventional vs our system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vehicles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1148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28016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10972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(accident + ambulance)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Conventional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trip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Ambulance wait at red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wait per car (s)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Cars arrived (%)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99.09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41148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98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42.1% faster and 0 s at red; average car wait 56.3% lower than conventional.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note: single cars can be slower in our system; the gain is in the average.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Coordinator: broadcasts and hill climbing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accident on INT_00-&gt;INT_01  |  S6 tuning signal parameters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0233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572000" y="1188720"/>
          <a:ext cx="420624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routing strands 12 / 12 cars; A* re-routing delivers 100%.   </a:t>
            </a:r>
            <a:pPr indent="0" marL="0">
              <a:buNone/>
            </a:pPr>
            <a:r>
              <a:rPr lang="en-US" sz="1250" b="1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Tuning: </a:t>
            </a:r>
            <a:pPr indent="0" marL="0"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unseen traffic 8.65 s -&gt; 6.96 s; best of 3 restarts 6.85 s; 62 simulations.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Tools, setup and code structure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tool/package selection &amp; code structure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40233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2606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3.10+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Readable; standard in AI courses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 storage; search written by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Readable live console demo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HTML demo page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 demo, offline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tests, no extra install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SUMO / Mesa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Would hide the models we need to explain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663440" y="1234440"/>
            <a:ext cx="4023360" cy="1143000"/>
          </a:xfrm>
          <a:prstGeom prst="rect">
            <a:avLst/>
          </a:prstGeom>
          <a:solidFill>
            <a:srgbClr val="1E2530"/>
          </a:solidFill>
          <a:ln/>
        </p:spPr>
        <p:txBody>
          <a:bodyPr wrap="square" lIns="1524" tIns="1524" rIns="1524" bIns="1524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-r requirements.txt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run_simulation.py --all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tests/run_tests.py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generate_results.py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663440" y="2560320"/>
            <a:ext cx="4023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src/agents: 6 agent classes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src/algorithms: A*, Max-Pressure, hill climbing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src/environment: roads, grids, simulator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src/protocols: FIPA-ACL broker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23 unit, 9 integration, 9 system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Scalability: 2x2 to 8x8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S8: demand grows with grid size; every vehicle runs to its destination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65760" y="118872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577840" y="1280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461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on the 8x8 grid (64 junctions)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2423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1.59 ms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simulated second at 8x8: grows linearly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577840" y="35661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-42..47%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251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reduction at every size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2: demo quality &amp; testing scenarios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4A3AA7"/>
          </a:solidFill>
          <a:ln w="12700">
            <a:solidFill>
              <a:srgbClr val="4A3AA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234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43/43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 pass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47548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91840"/>
                <a:gridCol w="4572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5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A* admissible/consistent/optimal, Max-Pressure rules, BPR, broker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Protocols; safety: never green to green, yellow &gt;= 3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Each scenario's acceptance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440680" y="1234440"/>
            <a:ext cx="3246120" cy="3474720"/>
          </a:xfrm>
          <a:prstGeom prst="roundRect">
            <a:avLst>
              <a:gd name="adj" fmla="val 225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05272" y="1344168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defects found &amp; fixed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605272" y="1709928"/>
            <a:ext cx="291693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Reason() ran twice per tick: timers at 2x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 times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baseline used a different controller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Preemption skipped yellow (unsafe)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messages ignored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omniscient about incidents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 each has a regression test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run in front of you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7F8C8D"/>
          </a:solidFill>
          <a:ln w="12700">
            <a:solidFill>
              <a:srgbClr val="7F8C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</a:t>
            </a:r>
            <a:endParaRPr lang="en-US" sz="900" dirty="0"/>
          </a:p>
        </p:txBody>
      </p:sp>
      <p:pic>
        <p:nvPicPr>
          <p:cNvPr id="7" name="Image 0" descr="/home/claude/proj/results/figures/demo_2_af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402336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43400" y="1307592"/>
            <a:ext cx="384048" cy="384048"/>
          </a:xfrm>
          <a:prstGeom prst="ellipse">
            <a:avLst/>
          </a:prstGeom>
          <a:solidFill>
            <a:srgbClr val="1A985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43400" y="1307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2344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run_demo.py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vs ours; click roads to add accidents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2002536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343400" y="2002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192938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--protocol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log (ambulance, incident)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43400" y="2697480"/>
            <a:ext cx="384048" cy="384048"/>
          </a:xfrm>
          <a:prstGeom prst="ellipse">
            <a:avLst/>
          </a:prstGeom>
          <a:solidFill>
            <a:srgbClr val="E8A317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34340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92040" y="262432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--scenario 1..8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tables for every experiment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343400" y="3392424"/>
            <a:ext cx="384048" cy="384048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34340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892040" y="331927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--astar-trace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expansion table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343400" y="4087368"/>
            <a:ext cx="384048" cy="384048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34340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892040" y="401421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tests/run_tests.py</a:t>
            </a:r>
            <a:endParaRPr lang="en-US" sz="1200" dirty="0"/>
          </a:p>
          <a:p>
            <a:pPr indent="0" marL="0"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tests in about 25 s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5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and next steps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8638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not model, and what we would add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26680" y="329184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1E2530"/>
          </a:solidFill>
          <a:ln w="12700">
            <a:solidFill>
              <a:srgbClr val="1E25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26680" y="32918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269480" y="731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 team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730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Limitations (honest)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signals, through movements only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Single-lane roads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grid demand, not calibrated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never delayed or lost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Green-wave hand-off is optional (no gain on random demand)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assumed to reach every junction by message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09160" y="1234440"/>
            <a:ext cx="3977640" cy="3474720"/>
          </a:xfrm>
          <a:prstGeom prst="roundRect">
            <a:avLst>
              <a:gd name="adj" fmla="val 2105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344168"/>
            <a:ext cx="3648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to extend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73752" y="1709928"/>
            <a:ext cx="3648456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junctions vs Max-Pressure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Contract-Net bidding between ambulances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Pedestrian agents and safe min-green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OpenStreetMap import (Coimbatore)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loss / delay robustness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E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annealing vs hill climbing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85800"/>
            <a:ext cx="274320" cy="274320"/>
          </a:xfrm>
          <a:prstGeom prst="ellipse">
            <a:avLst/>
          </a:prstGeom>
          <a:solidFill>
            <a:srgbClr val="D73027"/>
          </a:solidFill>
          <a:ln w="12700">
            <a:solidFill>
              <a:srgbClr val="D73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005840"/>
            <a:ext cx="274320" cy="274320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325880"/>
            <a:ext cx="274320" cy="274320"/>
          </a:xfrm>
          <a:prstGeom prst="ellipse">
            <a:avLst/>
          </a:prstGeom>
          <a:solidFill>
            <a:srgbClr val="1A9850"/>
          </a:solidFill>
          <a:ln w="12700">
            <a:solidFill>
              <a:srgbClr val="1A985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566928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Decentralised agents, measurable gains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-47.5%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01752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9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-29.6%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301752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ambulance time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9377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A* routes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1737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43/43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040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regenerated by python generate_results.py and checked by an automated test.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77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Traffic Management System</dc:title>
  <dc:subject>PptxGenJS Presentation</dc:subject>
  <dc:creator>PptxGenJS</dc:creator>
  <cp:lastModifiedBy>PptxGenJS</cp:lastModifiedBy>
  <cp:revision>1</cp:revision>
  <dcterms:created xsi:type="dcterms:W3CDTF">2026-10-11T17:28:46Z</dcterms:created>
  <dcterms:modified xsi:type="dcterms:W3CDTF">2026-10-11T17:28:46Z</dcterms:modified>
</cp:coreProperties>
</file>